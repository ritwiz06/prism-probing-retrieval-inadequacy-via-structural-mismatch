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6F6A"/>
                </a:solidFill>
              </a:rPr>
              <a:t>CSE 579 KNOWLEDGE REPRESENTATION AND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0" b="1">
                <a:solidFill>
                  <a:srgbClr val="171717"/>
                </a:solidFill>
              </a:rPr>
              <a:t>PRISM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01952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>
                <a:solidFill>
                  <a:srgbClr val="585B63"/>
                </a:solidFill>
              </a:rPr>
              <a:t>Representation-aware retrieval routing for structural mismatch in question answering.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788920"/>
            <a:ext cx="2240280" cy="329184"/>
          </a:xfrm>
          <a:prstGeom prst="rect">
            <a:avLst/>
          </a:prstGeom>
          <a:solidFill>
            <a:srgbClr val="E9F2E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843784"/>
            <a:ext cx="20939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B6F6A"/>
                </a:solidFill>
              </a:rPr>
              <a:t>Production: computed_ras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2788920"/>
            <a:ext cx="3520440" cy="329184"/>
          </a:xfrm>
          <a:prstGeom prst="rect">
            <a:avLst/>
          </a:prstGeom>
          <a:solidFill>
            <a:srgbClr val="FFF3D8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2843784"/>
            <a:ext cx="3374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9B3D12"/>
                </a:solidFill>
              </a:rPr>
              <a:t>Research overlays: rescue, RAS_V3, RAS_V4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788920"/>
            <a:ext cx="2560320" cy="329184"/>
          </a:xfrm>
          <a:prstGeom prst="rect">
            <a:avLst/>
          </a:prstGeom>
          <a:solidFill>
            <a:srgbClr val="EBEFF8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2843784"/>
            <a:ext cx="24140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345995"/>
                </a:solidFill>
              </a:rPr>
              <a:t>BM25 + Dense + KG + Hybrid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703320"/>
            <a:ext cx="29260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867911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6F6A"/>
                </a:solidFill>
              </a:rP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4270248"/>
            <a:ext cx="259689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5B63"/>
                </a:solidFill>
              </a:rPr>
              <a:t>Retrieval can fail when the representation does not match the query.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3703320"/>
            <a:ext cx="29260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1" y="3867911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6F6A"/>
                </a:solidFill>
              </a:rPr>
              <a:t>KRR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1" y="4270248"/>
            <a:ext cx="259689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5B63"/>
                </a:solidFill>
              </a:rPr>
              <a:t>Reason over query structure, route adequacy, evidence, and trace.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3703320"/>
            <a:ext cx="29260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6872" y="3867911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6F6A"/>
                </a:solidFill>
              </a:rPr>
              <a:t>Contribution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4270248"/>
            <a:ext cx="259689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5B63"/>
                </a:solidFill>
              </a:rPr>
              <a:t>An inspectable router across BM25, Dense, KG, and Hybrid.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99846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85B63"/>
                </a:solidFill>
              </a:rPr>
              <a:t>Contributions: Ritik - production integration, demo, report, release package | Omkar - TBD | Vaishnavi - TBD | Moin - TBD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46520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85B63"/>
                </a:solidFill>
              </a:rPr>
              <a:t>PRISM | CSE 579 Final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85B63"/>
                </a:solidFill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6F6A"/>
                </a:solidFill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71717"/>
                </a:solidFill>
              </a:rPr>
              <a:t>One retriever cannot preserve every kind of 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81328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585B63"/>
                </a:solidFill>
              </a:rPr>
              <a:t>A query can be answerable in the corpus but fail because the retrieval representation is inadequate.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33172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496312"/>
            <a:ext cx="2185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9B3D12"/>
                </a:solidFill>
              </a:rPr>
              <a:t>Lexical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898648"/>
            <a:ext cx="218541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5B63"/>
                </a:solidFill>
              </a:rPr>
              <a:t>RFC numbers, identifiers, and code-like strings need exact matching.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233172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2496312"/>
            <a:ext cx="2185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45995"/>
                </a:solidFill>
              </a:rPr>
              <a:t>Semantic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2898648"/>
            <a:ext cx="218541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5B63"/>
                </a:solidFill>
              </a:rPr>
              <a:t>Paraphrases and conceptual similarity need dense retrieval.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33172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2496312"/>
            <a:ext cx="2185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6F6A"/>
                </a:solidFill>
              </a:rPr>
              <a:t>Deductive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2898648"/>
            <a:ext cx="218541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5B63"/>
                </a:solidFill>
              </a:rPr>
              <a:t>Class, property, and membership questions need structured graph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233172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5712" y="2496312"/>
            <a:ext cx="2185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F4EA0"/>
                </a:solidFill>
              </a:rPr>
              <a:t>Relational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2898648"/>
            <a:ext cx="218541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5B63"/>
                </a:solidFill>
              </a:rPr>
              <a:t>Bridge questions need fused text and structural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720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71717"/>
                </a:solidFill>
              </a:rPr>
              <a:t>PRISM makes representation choice explicit, inspectable, and measurable.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349240"/>
            <a:ext cx="10424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5513831"/>
            <a:ext cx="100949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45995"/>
                </a:solidFill>
              </a:rPr>
              <a:t>Motivating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5916168"/>
            <a:ext cx="10094976" cy="-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5B63"/>
                </a:solidFill>
              </a:rPr>
              <a:t>The same corpus can contain the answer, but RFC-7231, climate-anxiety paraphrases, and mammal capability questions require different representations.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46520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85B63"/>
                </a:solidFill>
              </a:rPr>
              <a:t>PRISM | CSE 579 Final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85B63"/>
                </a:solidFill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6F6A"/>
                </a:solidFill>
              </a:rPr>
              <a:t>KRR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500" b="1">
                <a:solidFill>
                  <a:srgbClr val="171717"/>
                </a:solidFill>
              </a:rPr>
              <a:t>Structural mismatch is a representation adequacy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85B63"/>
                </a:solidFill>
              </a:rPr>
              <a:t>The reasoning step is not only answer generation. PRISM first reasons about which representation can support the query.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331720"/>
            <a:ext cx="233172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496312"/>
            <a:ext cx="2002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6F6A"/>
                </a:solidFill>
              </a:rPr>
              <a:t>1.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898648"/>
            <a:ext cx="2002536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5B63"/>
                </a:solidFill>
              </a:rPr>
              <a:t>Extract lexical, semantic, deductive, and relational signals.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2331720"/>
            <a:ext cx="233172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0712" y="2496312"/>
            <a:ext cx="2002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45995"/>
                </a:solidFill>
              </a:rPr>
              <a:t>2. 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2898648"/>
            <a:ext cx="2002536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5B63"/>
                </a:solidFill>
              </a:rPr>
              <a:t>RAS scores BM25, Dense, KG, and Hybrid candidates.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2331720"/>
            <a:ext cx="233172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71031" y="2496312"/>
            <a:ext cx="2002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9B3D12"/>
                </a:solidFill>
              </a:rPr>
              <a:t>3.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1031" y="2898648"/>
            <a:ext cx="2002536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5B63"/>
                </a:solidFill>
              </a:rPr>
              <a:t>Selected backend retrieves provenance-bearing support.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2331720"/>
            <a:ext cx="233172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2" y="2496312"/>
            <a:ext cx="2002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6F6A"/>
                </a:solidFill>
              </a:rPr>
              <a:t>4. Trace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2898648"/>
            <a:ext cx="2002536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5B63"/>
                </a:solidFill>
              </a:rPr>
              <a:t>Answer cites evidence ids and exposes rationale.</a:t>
            </a:r>
          </a:p>
        </p:txBody>
      </p:sp>
      <p:pic>
        <p:nvPicPr>
          <p:cNvPr id="17" name="Picture 16" descr="ras_famil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4206240"/>
            <a:ext cx="9052560" cy="1508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43000" y="5742432"/>
            <a:ext cx="9692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85B63"/>
                </a:solidFill>
              </a:rPr>
              <a:t>This is the reasoning process behind the method: represent the query need, choose the adequate representation, then justify the answer with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85B63"/>
                </a:solidFill>
              </a:rPr>
              <a:t>PRISM | CSE 579 Final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85B63"/>
                </a:solidFill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6F6A"/>
                </a:solidFill>
              </a:rPr>
              <a:t>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71717"/>
                </a:solidFill>
              </a:rPr>
              <a:t>PRISM architecture and RAS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81328"/>
            <a:ext cx="5623560" cy="4206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92240" y="1600200"/>
            <a:ext cx="44805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56831" y="1764792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6F6A"/>
                </a:solidFill>
              </a:rPr>
              <a:t>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6831" y="2167128"/>
            <a:ext cx="415137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5B63"/>
                </a:solidFill>
              </a:rPr>
              <a:t>computed_ras is the default deterministic router.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2651760"/>
            <a:ext cx="44805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1" y="2816352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45995"/>
                </a:solidFill>
              </a:rPr>
              <a:t>RAS_V3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6831" y="3218688"/>
            <a:ext cx="415137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5B63"/>
                </a:solidFill>
              </a:rPr>
              <a:t>Interpretable route-adequacy model; analysis-only.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3703320"/>
            <a:ext cx="44805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1" y="3867911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45995"/>
                </a:solidFill>
              </a:rPr>
              <a:t>RAS_V4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1" y="4270248"/>
            <a:ext cx="415137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5B63"/>
                </a:solidFill>
              </a:rPr>
              <a:t>Joint route-and-evidence adequacy model; analysis-only.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4754880"/>
            <a:ext cx="44805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1" y="4919472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9B3D12"/>
                </a:solidFill>
              </a:rPr>
              <a:t>Calibrated rescue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1" y="5321808"/>
            <a:ext cx="415137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5B63"/>
                </a:solidFill>
              </a:rPr>
              <a:t>Research/demo overlay strongest on adversarial answer accuracy.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5742432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85B63"/>
                </a:solidFill>
              </a:rPr>
              <a:t>Design choice: keep production deterministic and use research overlays to measure hard-case improvements without changing the default route policy.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46520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85B63"/>
                </a:solidFill>
              </a:rPr>
              <a:t>PRISM | CSE 579 Final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85B63"/>
                </a:solidFill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6F6A"/>
                </a:solidFill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717"/>
                </a:solidFill>
              </a:rPr>
              <a:t>Strong on stable layers, honest on hard cases.</a:t>
            </a:r>
          </a:p>
        </p:txBody>
      </p:sp>
      <p:pic>
        <p:nvPicPr>
          <p:cNvPr id="4" name="Picture 3" descr="benchmark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303520" cy="2971800"/>
          </a:xfrm>
          <a:prstGeom prst="rect">
            <a:avLst/>
          </a:prstGeom>
        </p:spPr>
      </p:pic>
      <p:pic>
        <p:nvPicPr>
          <p:cNvPr id="5" name="Picture 4" descr="adversarial_router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303520" cy="2971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4892040"/>
            <a:ext cx="25603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5020055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6F6A"/>
                </a:solidFill>
              </a:rPr>
              <a:t>80/80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513831"/>
            <a:ext cx="2231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85B63"/>
                </a:solidFill>
              </a:rPr>
              <a:t>Curated end-to-end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4892040"/>
            <a:ext cx="25603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5020055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6F6A"/>
                </a:solidFill>
              </a:rPr>
              <a:t>1.000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5513831"/>
            <a:ext cx="2231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85B63"/>
                </a:solidFill>
              </a:rPr>
              <a:t>Public raw and public graph tests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4892040"/>
            <a:ext cx="25603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5020055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6F6A"/>
                </a:solidFill>
              </a:rPr>
              <a:t>0.917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5513831"/>
            <a:ext cx="2231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85B63"/>
                </a:solidFill>
              </a:rPr>
              <a:t>computed_ras adversarial test answer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4892040"/>
            <a:ext cx="25603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0032" y="5020055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9B3D12"/>
                </a:solidFill>
              </a:rPr>
              <a:t>0.958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5513831"/>
            <a:ext cx="2231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85B63"/>
                </a:solidFill>
              </a:rPr>
              <a:t>calibrated rescue adversarial test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989320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85B63"/>
                </a:solidFill>
              </a:rPr>
              <a:t>Finding: representation-aware routing is stable on standard layers; hard ambiguity shows evidence rescue is complementary.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85B63"/>
                </a:solidFill>
              </a:rPr>
              <a:t>PRISM | CSE 579 Final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85B63"/>
                </a:solidFill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6F6A"/>
                </a:solidFill>
              </a:rPr>
              <a:t>DEMO AND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71717"/>
                </a:solidFill>
              </a:rPr>
              <a:t>The UI exposes the full reasoning path.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4983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585B63"/>
                </a:solidFill>
              </a:defRPr>
            </a:pPr>
            <a:r>
              <a:t>Demo path: Executive Summary -&gt; Guided Demo -&gt; Demo / Query.</a:t>
            </a:r>
          </a:p>
          <a:p>
            <a:pPr>
              <a:spcAft>
                <a:spcPts val="600"/>
              </a:spcAft>
              <a:defRPr sz="1700">
                <a:solidFill>
                  <a:srgbClr val="585B63"/>
                </a:solidFill>
              </a:defRPr>
            </a:pPr>
            <a:r>
              <a:t>Canonical queries cover lexical, semantic, deductive, and relational retrieval.</a:t>
            </a:r>
          </a:p>
          <a:p>
            <a:pPr>
              <a:spcAft>
                <a:spcPts val="600"/>
              </a:spcAft>
              <a:defRPr sz="1700">
                <a:solidFill>
                  <a:srgbClr val="585B63"/>
                </a:solidFill>
              </a:defRPr>
            </a:pPr>
            <a:r>
              <a:t>Each run shows parsed features, route scores, selected backend, evidence ids, answer, and trace.</a:t>
            </a:r>
          </a:p>
          <a:p>
            <a:pPr>
              <a:spcAft>
                <a:spcPts val="600"/>
              </a:spcAft>
              <a:defRPr sz="1700">
                <a:solidFill>
                  <a:srgbClr val="585B63"/>
                </a:solidFill>
              </a:defRPr>
            </a:pPr>
            <a:r>
              <a:t>Human evaluation supports trace clarity and faithfulness, with small-study caveats.</a:t>
            </a:r>
          </a:p>
        </p:txBody>
      </p:sp>
      <p:pic>
        <p:nvPicPr>
          <p:cNvPr id="5" name="Picture 4" descr="human_eval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08760"/>
            <a:ext cx="493776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55080" y="4983480"/>
            <a:ext cx="46634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9672" y="5148072"/>
            <a:ext cx="43342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9B3D12"/>
                </a:solidFill>
              </a:rPr>
              <a:t>Demo fallback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9672" y="5550408"/>
            <a:ext cx="4334255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5B63"/>
                </a:solidFill>
              </a:rPr>
              <a:t>Benchmark-safe mode remains reproducible if optional open-corpus or LLM components are unavailable.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46520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85B63"/>
                </a:solidFill>
              </a:rPr>
              <a:t>PRISM | CSE 579 Final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85B63"/>
                </a:solidFill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B6F6A"/>
                </a:solidFill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500" b="1">
                <a:solidFill>
                  <a:srgbClr val="171717"/>
                </a:solidFill>
              </a:rPr>
              <a:t>Takeaways, contributions, and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3246120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581912"/>
            <a:ext cx="2916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6F6A"/>
                </a:solidFill>
              </a:rPr>
              <a:t>Main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84248"/>
            <a:ext cx="291693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5B63"/>
                </a:solidFill>
              </a:rPr>
              <a:t>Representation-aware routing across BM25, Dense, KG, and Hybrid.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417320"/>
            <a:ext cx="3246120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1" y="1581912"/>
            <a:ext cx="2916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45995"/>
                </a:solidFill>
              </a:rPr>
              <a:t>Main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1984248"/>
            <a:ext cx="291693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5B63"/>
                </a:solidFill>
              </a:rPr>
              <a:t>Stable benchmark performance; calibrated rescue is strongest on hard adversarial answer accuracy.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1417320"/>
            <a:ext cx="3246120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1581912"/>
            <a:ext cx="2916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9B3D12"/>
                </a:solidFill>
              </a:rPr>
              <a:t>Main limitation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1" y="1984248"/>
            <a:ext cx="291693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5B63"/>
                </a:solidFill>
              </a:rPr>
              <a:t>Hard route-boundary cases still require better uncertainty and evidence adequacy.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063240"/>
            <a:ext cx="26060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227832"/>
            <a:ext cx="2276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6F6A"/>
                </a:solidFill>
              </a:rPr>
              <a:t>Ritik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630168"/>
            <a:ext cx="2276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5B63"/>
                </a:solidFill>
              </a:rPr>
              <a:t>Production integration, routing/demo stability, final report, release package, presentation deliverables.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3063240"/>
            <a:ext cx="26060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0752" y="3227832"/>
            <a:ext cx="2276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45995"/>
                </a:solidFill>
              </a:rPr>
              <a:t>Omkar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3630168"/>
            <a:ext cx="2276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5B63"/>
                </a:solidFill>
              </a:rPr>
              <a:t>TBD by teammate.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063240"/>
            <a:ext cx="26060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3227832"/>
            <a:ext cx="2276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6F6A"/>
                </a:solidFill>
              </a:rPr>
              <a:t>Vaishnavi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3630168"/>
            <a:ext cx="2276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5B63"/>
                </a:solidFill>
              </a:rPr>
              <a:t>TBD by teammate.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3063240"/>
            <a:ext cx="26060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91472" y="3227832"/>
            <a:ext cx="2276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9B3D12"/>
                </a:solidFill>
              </a:rPr>
              <a:t>Moin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3630168"/>
            <a:ext cx="2276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5B63"/>
                </a:solidFill>
              </a:rPr>
              <a:t>TBD by teammate.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892040"/>
            <a:ext cx="10378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71717"/>
                </a:solidFill>
              </a:rPr>
              <a:t>Final decision: production remains computed_ras. PRISM is bounded source-pack/local/open-corpus QA, not web-scale search.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833872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585B63"/>
                </a:solidFill>
              </a:rPr>
              <a:t>Presentation target: finish in 5 minutes; each slide maps directly to problem, KRR approach, reasoning process, results, and contribution.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46520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85B63"/>
                </a:solidFill>
              </a:rPr>
              <a:t>PRISM | CSE 579 Final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85B63"/>
                </a:solidFill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